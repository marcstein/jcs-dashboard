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8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18"/>
    <p:sldId id="271" r:id="rId19"/>
    <p:sldId id="272" r:id="rId20"/>
    <p:sldId id="280" r:id="rId21"/>
    <p:sldId id="273" r:id="rId22"/>
    <p:sldId id="282" r:id="rId23"/>
    <p:sldId id="276" r:id="rId24"/>
    <p:sldId id="274" r:id="rId25"/>
    <p:sldId id="275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424EAF-5766-4C8A-AE19-A62310E32184}" v="57" dt="2025-12-30T19:43:50.2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0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4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37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7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47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8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8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4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08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8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51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91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d-stlouismo.govqa.us/WEBAPP/_rs/(S(rpwolsrxatgbgjonkpzjo1en))/SupportHome.aspx?sSessionID=9918830145:59295BHQ%5bGYGJTFINDTFZNCCXJQDT&amp;=&amp;lp=3" TargetMode="External"/><Relationship Id="rId2" Type="http://schemas.openxmlformats.org/officeDocument/2006/relationships/hyperlink" Target="https://www.identogo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urts.mo.gov/casenet/cases/newHeader.do?inputVO.caseNumber=23SL-CR08093-01&amp;inputVO.courtId=CT21#charge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ADF6F3-0E24-1692-2F97-9E5B77893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/>
          </a:bodyPr>
          <a:lstStyle/>
          <a:p>
            <a:r>
              <a:rPr lang="en-US" dirty="0"/>
              <a:t>Missouri Expungements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333A3-E589-BDFC-86C7-4EB34B42C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5185297" cy="2309737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140EC-BEF1-D97E-8DA5-1889DEE3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23" r="21358" b="-1"/>
          <a:stretch>
            <a:fillRect/>
          </a:stretch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87770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DC6BA-5CF4-BE7D-AAC3-3351D6CA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521670"/>
            <a:ext cx="10325000" cy="914649"/>
          </a:xfrm>
        </p:spPr>
        <p:txBody>
          <a:bodyPr>
            <a:normAutofit/>
          </a:bodyPr>
          <a:lstStyle/>
          <a:p>
            <a:r>
              <a:rPr lang="en-US" sz="4000" dirty="0"/>
              <a:t>Question #1 – Was it Criminal?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4E7F0F-7CFA-A97C-6E1C-E5CF7B1B6B03}"/>
              </a:ext>
            </a:extLst>
          </p:cNvPr>
          <p:cNvSpPr txBox="1">
            <a:spLocks/>
          </p:cNvSpPr>
          <p:nvPr/>
        </p:nvSpPr>
        <p:spPr>
          <a:xfrm>
            <a:off x="691079" y="4350968"/>
            <a:ext cx="10325000" cy="914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Question #3 – Was there a Court Case?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078CF5-775F-03A4-A109-2FD7C7CA91DE}"/>
              </a:ext>
            </a:extLst>
          </p:cNvPr>
          <p:cNvSpPr txBox="1">
            <a:spLocks/>
          </p:cNvSpPr>
          <p:nvPr/>
        </p:nvSpPr>
        <p:spPr>
          <a:xfrm>
            <a:off x="691079" y="5265617"/>
            <a:ext cx="10325000" cy="914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Question #4 – What was the outcome?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02C8C48-6DA2-9488-07E2-2A121CC7DFDB}"/>
              </a:ext>
            </a:extLst>
          </p:cNvPr>
          <p:cNvSpPr txBox="1">
            <a:spLocks/>
          </p:cNvSpPr>
          <p:nvPr/>
        </p:nvSpPr>
        <p:spPr>
          <a:xfrm>
            <a:off x="691078" y="3429000"/>
            <a:ext cx="11224401" cy="914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Question #2 – What was the accusation/charge?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D668791-C988-274D-6625-21233A765100}"/>
              </a:ext>
            </a:extLst>
          </p:cNvPr>
          <p:cNvSpPr txBox="1">
            <a:spLocks/>
          </p:cNvSpPr>
          <p:nvPr/>
        </p:nvSpPr>
        <p:spPr>
          <a:xfrm>
            <a:off x="691079" y="614564"/>
            <a:ext cx="10479684" cy="11293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ARE THEY ELIGIBLE AT ALL???</a:t>
            </a:r>
          </a:p>
        </p:txBody>
      </p:sp>
    </p:spTree>
    <p:extLst>
      <p:ext uri="{BB962C8B-B14F-4D97-AF65-F5344CB8AC3E}">
        <p14:creationId xmlns:p14="http://schemas.microsoft.com/office/powerpoint/2010/main" val="249862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4CD8-791C-0DD9-C4E7-435B1F2B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an arrest? Dismissed Case?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9C8A-C68D-265A-922A-262F16B9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567612"/>
            <a:ext cx="10743634" cy="42903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dirty="0"/>
              <a:t>We have two options:</a:t>
            </a:r>
          </a:p>
          <a:p>
            <a:pPr lvl="1"/>
            <a:r>
              <a:rPr lang="en-US" sz="2800" dirty="0"/>
              <a:t>§ 610.122 </a:t>
            </a:r>
          </a:p>
          <a:p>
            <a:pPr lvl="3"/>
            <a:r>
              <a:rPr lang="en-US" sz="2400" dirty="0"/>
              <a:t>This is </a:t>
            </a:r>
            <a:r>
              <a:rPr lang="en-US" sz="2400" dirty="0">
                <a:solidFill>
                  <a:schemeClr val="accent1"/>
                </a:solidFill>
              </a:rPr>
              <a:t>better</a:t>
            </a:r>
            <a:r>
              <a:rPr lang="en-US" sz="2400" dirty="0"/>
              <a:t> – if possible – it is supposed to result in complete destruction of the records</a:t>
            </a:r>
          </a:p>
          <a:p>
            <a:pPr lvl="3"/>
            <a:r>
              <a:rPr lang="en-US" sz="2400" dirty="0">
                <a:solidFill>
                  <a:schemeClr val="accent1"/>
                </a:solidFill>
              </a:rPr>
              <a:t>ALWAYS</a:t>
            </a:r>
            <a:r>
              <a:rPr lang="en-US" sz="2400" dirty="0"/>
              <a:t> talk to the potential client about the circumstances of their arrest beforehand!! If their case was open and shut, and they just got </a:t>
            </a:r>
            <a:r>
              <a:rPr lang="en-US" sz="2400" dirty="0">
                <a:solidFill>
                  <a:schemeClr val="accent1"/>
                </a:solidFill>
              </a:rPr>
              <a:t>lucky</a:t>
            </a:r>
            <a:r>
              <a:rPr lang="en-US" sz="2400" dirty="0"/>
              <a:t>?? The </a:t>
            </a:r>
            <a:r>
              <a:rPr lang="en-US" sz="2400" dirty="0" err="1">
                <a:solidFill>
                  <a:schemeClr val="accent1"/>
                </a:solidFill>
              </a:rPr>
              <a:t>SoL</a:t>
            </a:r>
            <a:r>
              <a:rPr lang="en-US" sz="2400" dirty="0"/>
              <a:t> is not up?? It may not be wise to move forward.</a:t>
            </a:r>
          </a:p>
          <a:p>
            <a:pPr lvl="3"/>
            <a:r>
              <a:rPr lang="en-US" sz="2400" dirty="0"/>
              <a:t>We </a:t>
            </a:r>
            <a:r>
              <a:rPr lang="en-US" sz="2400" dirty="0">
                <a:solidFill>
                  <a:schemeClr val="accent1"/>
                </a:solidFill>
              </a:rPr>
              <a:t>MUST</a:t>
            </a:r>
            <a:r>
              <a:rPr lang="en-US" sz="2400" dirty="0"/>
              <a:t> ensure we are properly advising them – Don’t be a negative </a:t>
            </a:r>
            <a:r>
              <a:rPr lang="en-US" sz="2400" dirty="0" err="1"/>
              <a:t>nancy</a:t>
            </a:r>
            <a:r>
              <a:rPr lang="en-US" sz="2400" dirty="0"/>
              <a:t>, but be honest about potential issues</a:t>
            </a:r>
          </a:p>
          <a:p>
            <a:pPr lvl="3"/>
            <a:r>
              <a:rPr lang="en-US" sz="2400" dirty="0"/>
              <a:t>In cases where there is any question about the circumstances, we should request the </a:t>
            </a:r>
            <a:r>
              <a:rPr lang="en-US" sz="2400" dirty="0">
                <a:solidFill>
                  <a:schemeClr val="accent1"/>
                </a:solidFill>
              </a:rPr>
              <a:t>police report </a:t>
            </a:r>
          </a:p>
          <a:p>
            <a:pPr lvl="2"/>
            <a:endParaRPr lang="en-US" sz="2600" dirty="0"/>
          </a:p>
          <a:p>
            <a:pPr lvl="1"/>
            <a:r>
              <a:rPr lang="en-US" sz="2800" dirty="0"/>
              <a:t>§ 610.140(7)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3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E533-9386-5D2F-D64E-E8A106B2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35378"/>
            <a:ext cx="10325000" cy="1442463"/>
          </a:xfrm>
        </p:spPr>
        <p:txBody>
          <a:bodyPr/>
          <a:lstStyle/>
          <a:p>
            <a:r>
              <a:rPr lang="en-US" dirty="0"/>
              <a:t>§ 610.122 – Arrest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063C-A5C3-B19A-AFDD-90803F341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38" y="2465360"/>
            <a:ext cx="11227323" cy="43926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1.  Notwithstanding other provisions of law to the contrary, any record of arrest recorded pursuant to section 43.503 may be expunged if:</a:t>
            </a:r>
          </a:p>
          <a:p>
            <a:pPr marL="0" indent="0">
              <a:buNone/>
            </a:pPr>
            <a:r>
              <a:rPr lang="en-US" sz="1600" dirty="0"/>
              <a:t>	(1)  The court determines that the arrest was based on </a:t>
            </a:r>
            <a:r>
              <a:rPr lang="en-US" sz="1600" dirty="0">
                <a:solidFill>
                  <a:schemeClr val="accent1"/>
                </a:solidFill>
              </a:rPr>
              <a:t>false information </a:t>
            </a:r>
            <a:r>
              <a:rPr lang="en-US" sz="1600" dirty="0"/>
              <a:t>and the following conditions exist: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		(a)  There is no probable cause, </a:t>
            </a:r>
            <a:r>
              <a:rPr lang="en-US" sz="1600" dirty="0">
                <a:solidFill>
                  <a:schemeClr val="accent1"/>
                </a:solidFill>
              </a:rPr>
              <a:t>at the time of the action to expunge</a:t>
            </a:r>
            <a:r>
              <a:rPr lang="en-US" sz="1600" dirty="0"/>
              <a:t>, to believe the individual committed the 		offense;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		(b)  </a:t>
            </a:r>
            <a:r>
              <a:rPr lang="en-US" sz="1600" dirty="0">
                <a:solidFill>
                  <a:schemeClr val="accent1"/>
                </a:solidFill>
              </a:rPr>
              <a:t>No charges will be pursued </a:t>
            </a:r>
            <a:r>
              <a:rPr lang="en-US" sz="1600" dirty="0"/>
              <a:t>as a result of the arrest; and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		(c)  The subject of the arrest did not receive a </a:t>
            </a:r>
            <a:r>
              <a:rPr lang="en-US" sz="1600" dirty="0">
                <a:solidFill>
                  <a:schemeClr val="accent1"/>
                </a:solidFill>
              </a:rPr>
              <a:t>suspended imposition of sentence </a:t>
            </a:r>
            <a:r>
              <a:rPr lang="en-US" sz="1600" dirty="0"/>
              <a:t>for the offense for which 			the arrest was made or for any offense related to the arrest.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2.  A record of arrest shall only be eligible for expungement under this section if </a:t>
            </a:r>
            <a:r>
              <a:rPr lang="en-US" sz="1600" dirty="0">
                <a:solidFill>
                  <a:schemeClr val="accent1"/>
                </a:solidFill>
              </a:rPr>
              <a:t>no civil action is pending </a:t>
            </a:r>
            <a:r>
              <a:rPr lang="en-US" sz="1600" dirty="0"/>
              <a:t>relating to the arrest or the records sought to be expunged.</a:t>
            </a:r>
          </a:p>
        </p:txBody>
      </p:sp>
    </p:spTree>
    <p:extLst>
      <p:ext uri="{BB962C8B-B14F-4D97-AF65-F5344CB8AC3E}">
        <p14:creationId xmlns:p14="http://schemas.microsoft.com/office/powerpoint/2010/main" val="36271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3C087-C805-C0D9-7109-F5ED5A337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610.122 – Arrest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5A898-8BB0-1B2E-259B-BFE9A7B5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“False Information”</a:t>
            </a:r>
          </a:p>
          <a:p>
            <a:pPr lvl="1"/>
            <a:r>
              <a:rPr lang="en-US" dirty="0"/>
              <a:t>Bad Caselaw</a:t>
            </a:r>
          </a:p>
          <a:p>
            <a:pPr lvl="1"/>
            <a:r>
              <a:rPr lang="en-US" dirty="0"/>
              <a:t>Basically has to be as if someone lied to the cops – this only comes into play if another party objects</a:t>
            </a:r>
          </a:p>
          <a:p>
            <a:r>
              <a:rPr lang="en-US" dirty="0"/>
              <a:t>“No charges will be pursued…”</a:t>
            </a:r>
          </a:p>
          <a:p>
            <a:pPr lvl="1"/>
            <a:r>
              <a:rPr lang="en-US" dirty="0"/>
              <a:t>What does the background check say? Warrant Refused?</a:t>
            </a:r>
          </a:p>
          <a:p>
            <a:pPr lvl="1"/>
            <a:r>
              <a:rPr lang="en-US" dirty="0"/>
              <a:t>Has the </a:t>
            </a:r>
            <a:r>
              <a:rPr lang="en-US" dirty="0" err="1"/>
              <a:t>SoL</a:t>
            </a:r>
            <a:r>
              <a:rPr lang="en-US" dirty="0"/>
              <a:t> expired?</a:t>
            </a:r>
          </a:p>
        </p:txBody>
      </p:sp>
    </p:spTree>
    <p:extLst>
      <p:ext uri="{BB962C8B-B14F-4D97-AF65-F5344CB8AC3E}">
        <p14:creationId xmlns:p14="http://schemas.microsoft.com/office/powerpoint/2010/main" val="1213218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96CC-E147-B4F0-629C-C2D03E04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610.140(7) – Arrest Records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5C208-2BC8-E4FD-C84E-01E0E9FE1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567613"/>
            <a:ext cx="10325000" cy="35644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7.  A petition to expunge records related to an arrest for an </a:t>
            </a:r>
            <a:r>
              <a:rPr lang="en-US" i="1" dirty="0">
                <a:solidFill>
                  <a:schemeClr val="accent1"/>
                </a:solidFill>
              </a:rPr>
              <a:t>eligible</a:t>
            </a:r>
            <a:r>
              <a:rPr lang="en-US" dirty="0"/>
              <a:t> crime may be made </a:t>
            </a:r>
            <a:r>
              <a:rPr lang="en-US" i="1" dirty="0"/>
              <a:t>in accordance with the provisions of this section </a:t>
            </a:r>
            <a:r>
              <a:rPr lang="en-US" dirty="0"/>
              <a:t>to a court of competent jurisdiction in the county where the petitioner was arrested </a:t>
            </a:r>
            <a:r>
              <a:rPr lang="en-US" i="1" dirty="0"/>
              <a:t>no earlier than </a:t>
            </a:r>
            <a:r>
              <a:rPr lang="en-US" i="1" dirty="0">
                <a:solidFill>
                  <a:schemeClr val="accent1"/>
                </a:solidFill>
              </a:rPr>
              <a:t>eighteen months </a:t>
            </a:r>
            <a:r>
              <a:rPr lang="en-US" i="1" dirty="0"/>
              <a:t>from the date of arrest</a:t>
            </a:r>
            <a:r>
              <a:rPr lang="en-US" dirty="0"/>
              <a:t>; provided that, during such time: </a:t>
            </a:r>
          </a:p>
          <a:p>
            <a:pPr lvl="2"/>
            <a:r>
              <a:rPr lang="en-US" sz="2000" dirty="0"/>
              <a:t>the petitioner has not been charged and </a:t>
            </a:r>
          </a:p>
          <a:p>
            <a:pPr lvl="2"/>
            <a:r>
              <a:rPr lang="en-US" sz="2000" dirty="0"/>
              <a:t>the petitioner has not been found guilty of </a:t>
            </a:r>
            <a:r>
              <a:rPr lang="en-US" sz="2000" dirty="0">
                <a:solidFill>
                  <a:schemeClr val="accent1"/>
                </a:solidFill>
              </a:rPr>
              <a:t>any</a:t>
            </a:r>
            <a:r>
              <a:rPr lang="en-US" sz="2000" dirty="0"/>
              <a:t> misdemeanor or felony offense.</a:t>
            </a:r>
          </a:p>
          <a:p>
            <a:pPr lvl="2"/>
            <a:endParaRPr lang="en-US" sz="2000" dirty="0"/>
          </a:p>
          <a:p>
            <a:r>
              <a:rPr lang="en-US" sz="2400" dirty="0"/>
              <a:t>This takes factual issues out of it completely – which for some people is necessary</a:t>
            </a:r>
          </a:p>
        </p:txBody>
      </p:sp>
    </p:spTree>
    <p:extLst>
      <p:ext uri="{BB962C8B-B14F-4D97-AF65-F5344CB8AC3E}">
        <p14:creationId xmlns:p14="http://schemas.microsoft.com/office/powerpoint/2010/main" val="370094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8B9D9-3359-781B-7792-BCC557E9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Plea of Guilt? Conviction? DWI?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C34CF-40B2-4711-E25B-44499167B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800" dirty="0"/>
              <a:t>§ 610.140 – eligible offenses</a:t>
            </a:r>
          </a:p>
          <a:p>
            <a:endParaRPr lang="en-US" sz="2800" dirty="0"/>
          </a:p>
          <a:p>
            <a:r>
              <a:rPr lang="en-US" sz="2800" dirty="0"/>
              <a:t>§ 610.130 - DWI findings of guilt </a:t>
            </a:r>
            <a:r>
              <a:rPr lang="en-US" sz="2800" dirty="0">
                <a:solidFill>
                  <a:schemeClr val="accent1"/>
                </a:solidFill>
              </a:rPr>
              <a:t>ONLY</a:t>
            </a:r>
          </a:p>
        </p:txBody>
      </p:sp>
    </p:spTree>
    <p:extLst>
      <p:ext uri="{BB962C8B-B14F-4D97-AF65-F5344CB8AC3E}">
        <p14:creationId xmlns:p14="http://schemas.microsoft.com/office/powerpoint/2010/main" val="325843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2F21-CC3C-9E47-DE67-B12FF030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04D9-1EC8-9FBB-1E2D-EAEC401D6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602232" cy="4070096"/>
          </a:xfrm>
        </p:spPr>
        <p:txBody>
          <a:bodyPr numCol="2">
            <a:normAutofit fontScale="92500"/>
          </a:bodyPr>
          <a:lstStyle/>
          <a:p>
            <a:r>
              <a:rPr lang="en-US" u="sng" dirty="0"/>
              <a:t>Question #1 – Is the offense eligible?</a:t>
            </a:r>
          </a:p>
          <a:p>
            <a:pPr lvl="1"/>
            <a:r>
              <a:rPr lang="en-US" dirty="0"/>
              <a:t>Class A felonies</a:t>
            </a:r>
          </a:p>
          <a:p>
            <a:pPr lvl="1"/>
            <a:r>
              <a:rPr lang="en-US" dirty="0"/>
              <a:t>Any dangerous felony (as defined in § 556.061)</a:t>
            </a:r>
          </a:p>
          <a:p>
            <a:pPr lvl="1"/>
            <a:r>
              <a:rPr lang="en-US" dirty="0"/>
              <a:t>Any offense that requires registration as a sex offender</a:t>
            </a:r>
          </a:p>
          <a:p>
            <a:pPr lvl="1"/>
            <a:r>
              <a:rPr lang="en-US" dirty="0"/>
              <a:t>Any felony offenses where death is an element of the offense</a:t>
            </a:r>
          </a:p>
          <a:p>
            <a:pPr lvl="1"/>
            <a:r>
              <a:rPr lang="en-US" dirty="0"/>
              <a:t>Any felony offense of assault</a:t>
            </a:r>
          </a:p>
          <a:p>
            <a:pPr lvl="1"/>
            <a:r>
              <a:rPr lang="en-US" dirty="0"/>
              <a:t>Misdemeanor/Felony offense of domestic assault</a:t>
            </a:r>
          </a:p>
          <a:p>
            <a:pPr lvl="1"/>
            <a:r>
              <a:rPr lang="en-US" dirty="0"/>
              <a:t>Felony offense of kidnapping</a:t>
            </a:r>
          </a:p>
          <a:p>
            <a:pPr lvl="1"/>
            <a:r>
              <a:rPr lang="en-US" dirty="0"/>
              <a:t>Any felony offenses where death is an element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Any felony offense of assault</a:t>
            </a:r>
          </a:p>
          <a:p>
            <a:pPr lvl="1"/>
            <a:r>
              <a:rPr lang="en-US" dirty="0"/>
              <a:t>Misdemeanor/Felony offense of domestic assault</a:t>
            </a:r>
          </a:p>
          <a:p>
            <a:pPr lvl="1"/>
            <a:r>
              <a:rPr lang="en-US" dirty="0"/>
              <a:t>Felony offense of kidnapping</a:t>
            </a:r>
            <a:endParaRPr lang="en-US" b="1" dirty="0"/>
          </a:p>
          <a:p>
            <a:pPr lvl="1"/>
            <a:r>
              <a:rPr lang="en-US" dirty="0"/>
              <a:t>Random list of stuff – check statute**</a:t>
            </a:r>
          </a:p>
          <a:p>
            <a:pPr lvl="1"/>
            <a:r>
              <a:rPr lang="en-US" dirty="0"/>
              <a:t>Any traffic violation when committed by a CDL holder</a:t>
            </a:r>
          </a:p>
          <a:p>
            <a:pPr lvl="1"/>
            <a:r>
              <a:rPr lang="en-US" dirty="0"/>
              <a:t>Any ordinance violation that is the substantial equivalent </a:t>
            </a:r>
          </a:p>
          <a:p>
            <a:pPr lvl="1"/>
            <a:r>
              <a:rPr lang="en-US" dirty="0"/>
              <a:t>UUW (except under 571.030(1) where convicted prior to 1/1/17)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4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DC2B-8B9A-2422-517C-9586BFC2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Key Takeaways re Offenses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5F4C2-867F-CF63-AE36-3218BC0A1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0"/>
            <a:ext cx="10512949" cy="4354960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UUW </a:t>
            </a:r>
            <a:r>
              <a:rPr lang="en-US" dirty="0">
                <a:solidFill>
                  <a:schemeClr val="tx1"/>
                </a:solidFill>
              </a:rPr>
              <a:t>– almost always ineligible </a:t>
            </a:r>
            <a:r>
              <a:rPr lang="en-US" dirty="0"/>
              <a:t>(except under 571.030(1) where convicted prior to 1/1/17)</a:t>
            </a:r>
          </a:p>
          <a:p>
            <a:pPr lvl="1"/>
            <a:r>
              <a:rPr lang="en-US" dirty="0"/>
              <a:t>“Carries concealed upon or about his or her person a knife, a firearm, a blackjack or any other weapon readily capable of lethal use into any area where firearms are restricted under section 571.107”</a:t>
            </a:r>
          </a:p>
          <a:p>
            <a:r>
              <a:rPr lang="en-US" dirty="0">
                <a:solidFill>
                  <a:schemeClr val="accent1"/>
                </a:solidFill>
              </a:rPr>
              <a:t>FORGERY</a:t>
            </a:r>
            <a:r>
              <a:rPr lang="en-US" dirty="0"/>
              <a:t> IS </a:t>
            </a:r>
            <a:r>
              <a:rPr lang="en-US" u="sng" dirty="0"/>
              <a:t>NOT</a:t>
            </a:r>
            <a:r>
              <a:rPr lang="en-US" dirty="0"/>
              <a:t> ELIGIBLE!!</a:t>
            </a:r>
          </a:p>
          <a:p>
            <a:r>
              <a:rPr lang="en-US" dirty="0"/>
              <a:t>ALMOST any </a:t>
            </a:r>
            <a:r>
              <a:rPr lang="en-US" dirty="0">
                <a:solidFill>
                  <a:schemeClr val="accent1"/>
                </a:solidFill>
              </a:rPr>
              <a:t>drug</a:t>
            </a:r>
            <a:r>
              <a:rPr lang="en-US" dirty="0"/>
              <a:t> offense is eligible</a:t>
            </a:r>
          </a:p>
          <a:p>
            <a:r>
              <a:rPr lang="en-US" dirty="0">
                <a:solidFill>
                  <a:schemeClr val="accent1"/>
                </a:solidFill>
              </a:rPr>
              <a:t>STEALING</a:t>
            </a:r>
            <a:r>
              <a:rPr lang="en-US" dirty="0"/>
              <a:t> is eligible!</a:t>
            </a:r>
          </a:p>
          <a:p>
            <a:r>
              <a:rPr lang="en-US" dirty="0"/>
              <a:t>No </a:t>
            </a:r>
            <a:r>
              <a:rPr lang="en-US" dirty="0">
                <a:solidFill>
                  <a:schemeClr val="accent1"/>
                </a:solidFill>
              </a:rPr>
              <a:t>DOMESTICS</a:t>
            </a:r>
            <a:r>
              <a:rPr lang="en-US" dirty="0"/>
              <a:t>!</a:t>
            </a:r>
          </a:p>
          <a:p>
            <a:r>
              <a:rPr lang="en-US" dirty="0"/>
              <a:t>Only plain old misdemeanor or ordinance assault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MORAL OF THE STORY:</a:t>
            </a:r>
            <a:br>
              <a:rPr lang="en-US" dirty="0"/>
            </a:br>
            <a:r>
              <a:rPr lang="en-US" dirty="0"/>
              <a:t>If it’s weird or has any element of violence or freakiness, it probably </a:t>
            </a:r>
            <a:r>
              <a:rPr lang="en-US" dirty="0" err="1"/>
              <a:t>aint</a:t>
            </a:r>
            <a:r>
              <a:rPr lang="en-US" dirty="0"/>
              <a:t> eligible </a:t>
            </a:r>
          </a:p>
        </p:txBody>
      </p:sp>
    </p:spTree>
    <p:extLst>
      <p:ext uri="{BB962C8B-B14F-4D97-AF65-F5344CB8AC3E}">
        <p14:creationId xmlns:p14="http://schemas.microsoft.com/office/powerpoint/2010/main" val="1521567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120A-B0B8-CE72-22EE-8A747BDB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D3BC8-5148-D8F9-7335-14E58CBE1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Question #2 – Has enough time passed??</a:t>
            </a:r>
          </a:p>
          <a:p>
            <a:endParaRPr lang="en-US" dirty="0"/>
          </a:p>
          <a:p>
            <a:r>
              <a:rPr lang="en-US" dirty="0"/>
              <a:t>Felonies – must be </a:t>
            </a:r>
            <a:r>
              <a:rPr lang="en-US" dirty="0">
                <a:solidFill>
                  <a:schemeClr val="accent1"/>
                </a:solidFill>
              </a:rPr>
              <a:t>THREE</a:t>
            </a:r>
            <a:r>
              <a:rPr lang="en-US" dirty="0"/>
              <a:t> years since completing “any authorized disposition imposed”</a:t>
            </a:r>
          </a:p>
          <a:p>
            <a:endParaRPr lang="en-US" dirty="0"/>
          </a:p>
          <a:p>
            <a:r>
              <a:rPr lang="en-US" dirty="0"/>
              <a:t>Misdemeanors/Ordinances – must be </a:t>
            </a:r>
            <a:r>
              <a:rPr lang="en-US" dirty="0">
                <a:solidFill>
                  <a:schemeClr val="accent1"/>
                </a:solidFill>
              </a:rPr>
              <a:t>ONE</a:t>
            </a:r>
            <a:r>
              <a:rPr lang="en-US" dirty="0"/>
              <a:t> year since completing “any authorized disposition imposed”5</a:t>
            </a:r>
          </a:p>
        </p:txBody>
      </p:sp>
    </p:spTree>
    <p:extLst>
      <p:ext uri="{BB962C8B-B14F-4D97-AF65-F5344CB8AC3E}">
        <p14:creationId xmlns:p14="http://schemas.microsoft.com/office/powerpoint/2010/main" val="153823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4A48C-ADFA-8D2B-EE4D-E4BEBD68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299C-357D-3046-E81B-227EF9FF4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/>
              <a:t>Question #3 – have they had a clean record?</a:t>
            </a:r>
          </a:p>
          <a:p>
            <a:endParaRPr lang="en-US" dirty="0"/>
          </a:p>
          <a:p>
            <a:r>
              <a:rPr lang="en-US" dirty="0"/>
              <a:t>Felonies – must have </a:t>
            </a:r>
            <a:r>
              <a:rPr lang="en-US" dirty="0">
                <a:solidFill>
                  <a:schemeClr val="accent1"/>
                </a:solidFill>
              </a:rPr>
              <a:t>NO OTHER </a:t>
            </a:r>
            <a:r>
              <a:rPr lang="en-US" dirty="0"/>
              <a:t>findings of guilt (excluding traffic offenses) for the last </a:t>
            </a:r>
            <a:r>
              <a:rPr lang="en-US" dirty="0">
                <a:solidFill>
                  <a:schemeClr val="accent1"/>
                </a:solidFill>
              </a:rPr>
              <a:t>THREE</a:t>
            </a:r>
            <a:r>
              <a:rPr lang="en-US" dirty="0"/>
              <a:t> years</a:t>
            </a:r>
          </a:p>
          <a:p>
            <a:endParaRPr lang="en-US" dirty="0"/>
          </a:p>
          <a:p>
            <a:r>
              <a:rPr lang="en-US" dirty="0"/>
              <a:t>Misdemeanors/Ordinances – must have </a:t>
            </a:r>
            <a:r>
              <a:rPr lang="en-US" dirty="0">
                <a:solidFill>
                  <a:schemeClr val="accent1"/>
                </a:solidFill>
              </a:rPr>
              <a:t>NO OTHER </a:t>
            </a:r>
            <a:r>
              <a:rPr lang="en-US" dirty="0"/>
              <a:t>findings of guilt (excluding traffic offenses) for the last </a:t>
            </a:r>
            <a:r>
              <a:rPr lang="en-US" dirty="0">
                <a:solidFill>
                  <a:schemeClr val="accent1"/>
                </a:solidFill>
              </a:rPr>
              <a:t>YEAR</a:t>
            </a:r>
          </a:p>
          <a:p>
            <a:endParaRPr lang="en-US" dirty="0"/>
          </a:p>
          <a:p>
            <a:r>
              <a:rPr lang="en-US" dirty="0"/>
              <a:t>This time frame is different than Question #2 – it is </a:t>
            </a:r>
            <a:r>
              <a:rPr lang="en-US" dirty="0">
                <a:solidFill>
                  <a:schemeClr val="accent1"/>
                </a:solidFill>
              </a:rPr>
              <a:t>NOT</a:t>
            </a:r>
            <a:r>
              <a:rPr lang="en-US" dirty="0"/>
              <a:t> for the three years or year immediately after the offense disposition is complete </a:t>
            </a:r>
          </a:p>
        </p:txBody>
      </p:sp>
    </p:spTree>
    <p:extLst>
      <p:ext uri="{BB962C8B-B14F-4D97-AF65-F5344CB8AC3E}">
        <p14:creationId xmlns:p14="http://schemas.microsoft.com/office/powerpoint/2010/main" val="3869047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DA89-8AEF-561D-AAB5-B53ACFF0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EDA36-0483-9986-821E-CE1772BCE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Question #4 – Do they meet the other requirements?</a:t>
            </a:r>
          </a:p>
          <a:p>
            <a:endParaRPr lang="en-US" dirty="0"/>
          </a:p>
          <a:p>
            <a:pPr lvl="1"/>
            <a:r>
              <a:rPr lang="en-US" sz="2000" dirty="0"/>
              <a:t>Did they satisfy all obligations for their sentence? (i.e. restitution, </a:t>
            </a:r>
            <a:r>
              <a:rPr lang="en-US" sz="2000" dirty="0" err="1"/>
              <a:t>etc</a:t>
            </a:r>
            <a:r>
              <a:rPr lang="en-US" sz="2000" dirty="0"/>
              <a:t>)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Do they have any charges pending?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Do their habits and conduct demonstrate they’re a threat to public safety?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Is this expungement consistent with the public welfare and interests of justice?</a:t>
            </a:r>
          </a:p>
        </p:txBody>
      </p:sp>
    </p:spTree>
    <p:extLst>
      <p:ext uri="{BB962C8B-B14F-4D97-AF65-F5344CB8AC3E}">
        <p14:creationId xmlns:p14="http://schemas.microsoft.com/office/powerpoint/2010/main" val="2052411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F341-E4E4-7644-1A43-2BDD52A5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A852-E42C-CAD6-5C78-FB9FA6F98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1"/>
            <a:ext cx="10819049" cy="42114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Random Tidbits</a:t>
            </a:r>
          </a:p>
          <a:p>
            <a:endParaRPr lang="en-US" dirty="0"/>
          </a:p>
          <a:p>
            <a:pPr lvl="1"/>
            <a:r>
              <a:rPr lang="en-US" dirty="0"/>
              <a:t>TWO SEPARATE felonies can be expunged</a:t>
            </a:r>
          </a:p>
          <a:p>
            <a:pPr lvl="1"/>
            <a:r>
              <a:rPr lang="en-US" dirty="0"/>
              <a:t>THREE SEPARATE misdemeanors/ordinances (with an authorized term of imprisonment) can be expunged</a:t>
            </a:r>
          </a:p>
          <a:p>
            <a:pPr lvl="1"/>
            <a:r>
              <a:rPr lang="en-US" dirty="0"/>
              <a:t>UNLIMITED infractions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the crimes sought to be expunged were committed </a:t>
            </a:r>
            <a:r>
              <a:rPr lang="en-US" dirty="0">
                <a:solidFill>
                  <a:schemeClr val="accent1"/>
                </a:solidFill>
              </a:rPr>
              <a:t>as part of the same course of criminal conduct</a:t>
            </a:r>
            <a:r>
              <a:rPr lang="en-US" dirty="0"/>
              <a:t>, the person may include all such related crimes in the petition, regardless of the limits on number of offenses expungable, and </a:t>
            </a:r>
          </a:p>
          <a:p>
            <a:pPr lvl="1"/>
            <a:r>
              <a:rPr lang="en-US" dirty="0"/>
              <a:t>Those related crimes shall </a:t>
            </a:r>
            <a:r>
              <a:rPr lang="en-US" dirty="0">
                <a:solidFill>
                  <a:schemeClr val="accent1"/>
                </a:solidFill>
              </a:rPr>
              <a:t>only count as the highest level </a:t>
            </a:r>
            <a:r>
              <a:rPr lang="en-US" dirty="0"/>
              <a:t>for the purpose of determining current and future eligibility for expungement.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5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49E8-9662-8F77-4C00-2AFAF5F4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610.140 – Finding of Guilt (Non-DWI)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5ED-0424-4078-F72F-3F69DE60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545672" cy="4381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More Random Tidbits:</a:t>
            </a:r>
          </a:p>
          <a:p>
            <a:endParaRPr lang="en-US" dirty="0"/>
          </a:p>
          <a:p>
            <a:pPr lvl="1"/>
            <a:r>
              <a:rPr lang="en-US" dirty="0"/>
              <a:t>A pleading by the petitioner that he or she meets the requirements of the habits and conduct/public welfare requirements shall create a </a:t>
            </a:r>
            <a:r>
              <a:rPr lang="en-US" dirty="0">
                <a:solidFill>
                  <a:schemeClr val="accent1"/>
                </a:solidFill>
              </a:rPr>
              <a:t>rebuttable presumption </a:t>
            </a:r>
            <a:r>
              <a:rPr lang="en-US" dirty="0"/>
              <a:t>that the expungement is warranted.  The burden shall shift to the prosecuting attorney or circuit attorney to rebut the presumption.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effect of an order of expungement shall be to </a:t>
            </a:r>
            <a:r>
              <a:rPr lang="en-US" dirty="0">
                <a:solidFill>
                  <a:schemeClr val="accent1"/>
                </a:solidFill>
              </a:rPr>
              <a:t>fully restore the civil rights </a:t>
            </a:r>
            <a:r>
              <a:rPr lang="en-US" dirty="0"/>
              <a:t>of such person to the status he or she occupied prior to such arrests, pleas, trials, or convictions </a:t>
            </a:r>
            <a:r>
              <a:rPr lang="en-US" dirty="0">
                <a:solidFill>
                  <a:schemeClr val="accent1"/>
                </a:solidFill>
              </a:rPr>
              <a:t>as if such events had never taken place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For purposes of 18 U.S.C. Section 921(a)(33)(B)(ii) (</a:t>
            </a:r>
            <a:r>
              <a:rPr lang="en-US" dirty="0">
                <a:solidFill>
                  <a:schemeClr val="accent1"/>
                </a:solidFill>
              </a:rPr>
              <a:t>FEDERAL POSSESSION OF A FIREARM</a:t>
            </a:r>
            <a:r>
              <a:rPr lang="en-US" dirty="0"/>
              <a:t>) an order of expungement shall be considered a complete removal of all effects of the expunged conviction. 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2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81B5-BEEB-F57F-3FF5-A406C6ED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610.130 – Finding of Guilt (DWI)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786CC-DD51-12DF-1081-E59F50D0A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0"/>
            <a:ext cx="10668220" cy="408894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TEN</a:t>
            </a:r>
            <a:r>
              <a:rPr lang="en-US" dirty="0"/>
              <a:t> YEARS after a </a:t>
            </a:r>
            <a:r>
              <a:rPr lang="en-US" dirty="0">
                <a:solidFill>
                  <a:schemeClr val="accent1"/>
                </a:solidFill>
              </a:rPr>
              <a:t>PLEA/FINDING OF GUILT </a:t>
            </a:r>
          </a:p>
          <a:p>
            <a:r>
              <a:rPr lang="en-US" dirty="0">
                <a:solidFill>
                  <a:schemeClr val="accent1"/>
                </a:solidFill>
              </a:rPr>
              <a:t>FIRST TIME </a:t>
            </a:r>
            <a:r>
              <a:rPr lang="en-US" dirty="0"/>
              <a:t>intoxication-related traffic offense or intoxication-related boating offense</a:t>
            </a:r>
          </a:p>
          <a:p>
            <a:r>
              <a:rPr lang="en-US" dirty="0"/>
              <a:t>MUST be a misdemeanor or ordinance violation </a:t>
            </a:r>
          </a:p>
          <a:p>
            <a:r>
              <a:rPr lang="en-US" dirty="0"/>
              <a:t>Cannot be a conviction for driving a </a:t>
            </a:r>
            <a:r>
              <a:rPr lang="en-US" dirty="0">
                <a:solidFill>
                  <a:schemeClr val="accent1"/>
                </a:solidFill>
              </a:rPr>
              <a:t>commercial motor vehicle </a:t>
            </a:r>
            <a:r>
              <a:rPr lang="en-US" dirty="0"/>
              <a:t>while under the influence of alcohol</a:t>
            </a:r>
          </a:p>
          <a:p>
            <a:r>
              <a:rPr lang="en-US" dirty="0"/>
              <a:t>Cannot have had any other conviction for any intoxication-related traffic offense or intoxication-related boating offense </a:t>
            </a:r>
          </a:p>
          <a:p>
            <a:r>
              <a:rPr lang="en-US" dirty="0"/>
              <a:t>Cannot have any other </a:t>
            </a:r>
            <a:r>
              <a:rPr lang="en-US" dirty="0">
                <a:solidFill>
                  <a:schemeClr val="accent1"/>
                </a:solidFill>
              </a:rPr>
              <a:t>subsequent alcohol-related enforcement contacts</a:t>
            </a:r>
            <a:r>
              <a:rPr lang="en-US" dirty="0"/>
              <a:t>, as defined in section 302.525 (license stuff)</a:t>
            </a:r>
          </a:p>
          <a:p>
            <a:r>
              <a:rPr lang="en-US" dirty="0"/>
              <a:t>Not eligible if individual has been issued a </a:t>
            </a:r>
            <a:r>
              <a:rPr lang="en-US" dirty="0">
                <a:solidFill>
                  <a:schemeClr val="accent1"/>
                </a:solidFill>
              </a:rPr>
              <a:t>CDL</a:t>
            </a:r>
          </a:p>
        </p:txBody>
      </p:sp>
    </p:spTree>
    <p:extLst>
      <p:ext uri="{BB962C8B-B14F-4D97-AF65-F5344CB8AC3E}">
        <p14:creationId xmlns:p14="http://schemas.microsoft.com/office/powerpoint/2010/main" val="4074768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0B84-0FAA-F4F7-9FF3-9308196C5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§ 610.130 – Finding of Guilt (DWI)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7F644-74FB-271A-3E7E-79EE6E57C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Tidbits</a:t>
            </a:r>
          </a:p>
          <a:p>
            <a:endParaRPr lang="en-US" dirty="0"/>
          </a:p>
          <a:p>
            <a:pPr lvl="1"/>
            <a:r>
              <a:rPr lang="en-US" dirty="0"/>
              <a:t>Only </a:t>
            </a:r>
            <a:r>
              <a:rPr lang="en-US" dirty="0">
                <a:solidFill>
                  <a:schemeClr val="accent1"/>
                </a:solidFill>
              </a:rPr>
              <a:t>one</a:t>
            </a:r>
            <a:r>
              <a:rPr lang="en-US" dirty="0"/>
              <a:t> expungement possible under this subsection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records and files maintained in </a:t>
            </a:r>
            <a:r>
              <a:rPr lang="en-US" dirty="0">
                <a:solidFill>
                  <a:schemeClr val="accent1"/>
                </a:solidFill>
              </a:rPr>
              <a:t>any administrative or court proceeding in an associate or circuit division of the circuit court </a:t>
            </a:r>
            <a:r>
              <a:rPr lang="en-US" dirty="0"/>
              <a:t>under this section shall be confidential upon order of expungement.</a:t>
            </a:r>
          </a:p>
          <a:p>
            <a:pPr lvl="1"/>
            <a:r>
              <a:rPr lang="en-US" dirty="0"/>
              <a:t>Does not apply to driving record/admins – PFR court cases 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25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6561-D54C-496A-CE1A-EE6A5AE9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Something to be aware of….</a:t>
            </a:r>
            <a:br>
              <a:rPr lang="en-US" dirty="0"/>
            </a:br>
            <a:r>
              <a:rPr lang="en-US" dirty="0"/>
              <a:t>Marijuana Expungements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A8825-6744-8E79-220E-B0DE801EB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0"/>
            <a:ext cx="10423123" cy="4343473"/>
          </a:xfrm>
        </p:spPr>
        <p:txBody>
          <a:bodyPr>
            <a:normAutofit/>
          </a:bodyPr>
          <a:lstStyle/>
          <a:p>
            <a:r>
              <a:rPr lang="en-US" sz="2800" dirty="0"/>
              <a:t>Mo. Const. Art. XIV, § 2 – Effective December 2022</a:t>
            </a:r>
          </a:p>
          <a:p>
            <a:pPr lvl="1"/>
            <a:r>
              <a:rPr lang="en-US" sz="2400" dirty="0"/>
              <a:t>Made expunging eligible marijuana offenses </a:t>
            </a:r>
            <a:r>
              <a:rPr lang="en-US" sz="2400" dirty="0">
                <a:solidFill>
                  <a:schemeClr val="accent1"/>
                </a:solidFill>
              </a:rPr>
              <a:t>AUTOMATIC</a:t>
            </a:r>
          </a:p>
          <a:p>
            <a:pPr lvl="1"/>
            <a:r>
              <a:rPr lang="en-US" sz="2400" dirty="0"/>
              <a:t>for any marijuana offense that would no longer be a crime</a:t>
            </a:r>
          </a:p>
          <a:p>
            <a:pPr lvl="1"/>
            <a:r>
              <a:rPr lang="en-US" sz="2400" dirty="0"/>
              <a:t>Meaning </a:t>
            </a:r>
            <a:r>
              <a:rPr lang="en-US" sz="2400" dirty="0">
                <a:solidFill>
                  <a:schemeClr val="accent1"/>
                </a:solidFill>
              </a:rPr>
              <a:t>we cannot take money from these people</a:t>
            </a:r>
            <a:r>
              <a:rPr lang="en-US" sz="2400" dirty="0"/>
              <a:t>!</a:t>
            </a:r>
          </a:p>
          <a:p>
            <a:pPr lvl="1"/>
            <a:r>
              <a:rPr lang="en-US" sz="2400" dirty="0"/>
              <a:t>Always double check on the specifics and look on </a:t>
            </a:r>
            <a:r>
              <a:rPr lang="en-US" sz="2400" dirty="0" err="1"/>
              <a:t>casenet</a:t>
            </a:r>
            <a:r>
              <a:rPr lang="en-US" sz="2400" dirty="0"/>
              <a:t> if possible – lots of public drug cases will have an entry that shows if they’ve been screened by the courts and found ineligible for automatic expungement</a:t>
            </a:r>
          </a:p>
        </p:txBody>
      </p:sp>
    </p:spTree>
    <p:extLst>
      <p:ext uri="{BB962C8B-B14F-4D97-AF65-F5344CB8AC3E}">
        <p14:creationId xmlns:p14="http://schemas.microsoft.com/office/powerpoint/2010/main" val="305318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78D83-31E7-D71D-5247-5BE88F6B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Now.. Onto the Mechanics…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86D24-167C-F95B-D881-80B726A1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3900" dirty="0"/>
              <a:t>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26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9B4E-4E56-E7BD-6444-16948E15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1"/>
            <a:ext cx="10409841" cy="1904127"/>
          </a:xfrm>
        </p:spPr>
        <p:txBody>
          <a:bodyPr/>
          <a:lstStyle/>
          <a:p>
            <a:r>
              <a:rPr lang="en-US" dirty="0"/>
              <a:t>STEP 1 – Do we have all the necessary information for the petition???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02E52-B8B8-7ABA-EF0D-7163008F5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920" y="3028288"/>
            <a:ext cx="10325000" cy="3564436"/>
          </a:xfrm>
        </p:spPr>
        <p:txBody>
          <a:bodyPr/>
          <a:lstStyle/>
          <a:p>
            <a:r>
              <a:rPr lang="en-US" dirty="0"/>
              <a:t>Documents from Client?</a:t>
            </a:r>
          </a:p>
          <a:p>
            <a:r>
              <a:rPr lang="en-US" dirty="0"/>
              <a:t>Background Checks – Differs by Jurisdiction – </a:t>
            </a:r>
            <a:r>
              <a:rPr lang="en-US" dirty="0" err="1">
                <a:hlinkClick r:id="rId2"/>
              </a:rPr>
              <a:t>Identogo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SLMPD Records Portal</a:t>
            </a:r>
            <a:endParaRPr lang="en-US" dirty="0"/>
          </a:p>
          <a:p>
            <a:r>
              <a:rPr lang="en-US" dirty="0"/>
              <a:t>Court Record Requests</a:t>
            </a:r>
          </a:p>
          <a:p>
            <a:endParaRPr lang="en-US" dirty="0"/>
          </a:p>
          <a:p>
            <a:r>
              <a:rPr lang="en-US" dirty="0"/>
              <a:t>Main issues are the </a:t>
            </a:r>
            <a:r>
              <a:rPr lang="en-US" dirty="0">
                <a:solidFill>
                  <a:schemeClr val="accent1"/>
                </a:solidFill>
              </a:rPr>
              <a:t>DATES &amp; ARRESTING AGENCY - </a:t>
            </a:r>
            <a:r>
              <a:rPr lang="en-US" dirty="0" err="1">
                <a:hlinkClick r:id="rId4"/>
              </a:rPr>
              <a:t>Casenet</a:t>
            </a:r>
            <a:r>
              <a:rPr lang="en-US" dirty="0">
                <a:hlinkClick r:id="rId4"/>
              </a:rPr>
              <a:t> Example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/>
              <a:t>Fingerprint cards – 610.122 arrest expungements only</a:t>
            </a:r>
          </a:p>
        </p:txBody>
      </p:sp>
    </p:spTree>
    <p:extLst>
      <p:ext uri="{BB962C8B-B14F-4D97-AF65-F5344CB8AC3E}">
        <p14:creationId xmlns:p14="http://schemas.microsoft.com/office/powerpoint/2010/main" val="3284608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6FDF-1AF7-E9AD-1C93-07F4AE80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05DC5-00B9-6BA8-23A2-541ECB89F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D596F45-09A5-AA7A-ABE2-FD4A770081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828738"/>
              </p:ext>
            </p:extLst>
          </p:nvPr>
        </p:nvGraphicFramePr>
        <p:xfrm>
          <a:off x="1634992" y="-3081369"/>
          <a:ext cx="8455185" cy="10943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7543800" progId="Acrobat.Document.DC">
                  <p:embed/>
                </p:oleObj>
              </mc:Choice>
              <mc:Fallback>
                <p:oleObj name="Acrobat Document" r:id="rId2" imgW="5829287" imgH="7543800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D596F45-09A5-AA7A-ABE2-FD4A770081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4992" y="-3081369"/>
                        <a:ext cx="8455185" cy="10943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890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4B7ED-557B-977C-1571-1C6F44BBA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– Get Petition Drafted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3D02-FB8D-C59E-D0EE-CE7C848ED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0"/>
            <a:ext cx="10178026" cy="415493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Must be filed in county where arrest/case took place</a:t>
            </a:r>
          </a:p>
          <a:p>
            <a:r>
              <a:rPr lang="en-US" dirty="0"/>
              <a:t>I have tons of samples – come ask me</a:t>
            </a:r>
          </a:p>
          <a:p>
            <a:r>
              <a:rPr lang="en-US" dirty="0"/>
              <a:t>Ensure </a:t>
            </a:r>
            <a:r>
              <a:rPr lang="en-US" u="sng" dirty="0"/>
              <a:t>all</a:t>
            </a:r>
            <a:r>
              <a:rPr lang="en-US" dirty="0"/>
              <a:t> parties are added (MSHP CRR &amp; FBI on all)</a:t>
            </a:r>
          </a:p>
          <a:p>
            <a:r>
              <a:rPr lang="en-US" dirty="0"/>
              <a:t>Filing fees differ by jurisdiction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Differs by jurisdiction – </a:t>
            </a:r>
            <a:r>
              <a:rPr lang="en-US" dirty="0">
                <a:solidFill>
                  <a:schemeClr val="accent1"/>
                </a:solidFill>
              </a:rPr>
              <a:t>ALWAYS</a:t>
            </a:r>
            <a:r>
              <a:rPr lang="en-US" dirty="0"/>
              <a:t> call the clerk’s office if it is an unusual jurisdiction</a:t>
            </a:r>
          </a:p>
          <a:p>
            <a:r>
              <a:rPr lang="en-US" dirty="0"/>
              <a:t>Sometimes the clerks do everything, sometimes they do basically nothing (think notice, summons, copies of petitions, process server)</a:t>
            </a:r>
          </a:p>
          <a:p>
            <a:r>
              <a:rPr lang="en-US" dirty="0"/>
              <a:t>Parties have </a:t>
            </a:r>
            <a:r>
              <a:rPr lang="en-US" dirty="0">
                <a:solidFill>
                  <a:schemeClr val="accent1"/>
                </a:solidFill>
              </a:rPr>
              <a:t>30 days </a:t>
            </a:r>
            <a:r>
              <a:rPr lang="en-US" dirty="0"/>
              <a:t>after notice to file objections (statutory requirement)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177FC0-3E32-E59F-B929-1AB7D5D49ED4}"/>
              </a:ext>
            </a:extLst>
          </p:cNvPr>
          <p:cNvSpPr txBox="1">
            <a:spLocks/>
          </p:cNvSpPr>
          <p:nvPr/>
        </p:nvSpPr>
        <p:spPr>
          <a:xfrm>
            <a:off x="691079" y="3353586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3 – Notify the Parties</a:t>
            </a:r>
          </a:p>
        </p:txBody>
      </p:sp>
    </p:spTree>
    <p:extLst>
      <p:ext uri="{BB962C8B-B14F-4D97-AF65-F5344CB8AC3E}">
        <p14:creationId xmlns:p14="http://schemas.microsoft.com/office/powerpoint/2010/main" val="1955260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8D56C-B88D-15C2-D09F-461AF7448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6881-3152-9BB1-B2F1-4D49F581B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56C9F86-46BB-595C-3035-1B574EB7DE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289431"/>
              </p:ext>
            </p:extLst>
          </p:nvPr>
        </p:nvGraphicFramePr>
        <p:xfrm>
          <a:off x="2700222" y="0"/>
          <a:ext cx="5651925" cy="73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29287" imgH="7543800" progId="Acrobat.Document.DC">
                  <p:embed/>
                </p:oleObj>
              </mc:Choice>
              <mc:Fallback>
                <p:oleObj name="Acrobat Document" r:id="rId2" imgW="5829287" imgH="7543800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56C9F86-46BB-595C-3035-1B574EB7D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0222" y="0"/>
                        <a:ext cx="5651925" cy="73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9248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D6479-D9A1-8AC5-9024-56B11223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– Figure out Client Piece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27021-BA0D-193B-3304-575BDED3A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8" y="2340130"/>
            <a:ext cx="10489111" cy="4126657"/>
          </a:xfrm>
        </p:spPr>
        <p:txBody>
          <a:bodyPr/>
          <a:lstStyle/>
          <a:p>
            <a:r>
              <a:rPr lang="en-US" dirty="0"/>
              <a:t>Does the client need to appear at all?</a:t>
            </a:r>
          </a:p>
          <a:p>
            <a:r>
              <a:rPr lang="en-US" dirty="0"/>
              <a:t>Always make client experience a top priority – getting to avoid court and having the process go smoothly is what they pay us for </a:t>
            </a:r>
          </a:p>
          <a:p>
            <a:r>
              <a:rPr lang="en-US" dirty="0"/>
              <a:t>Once case is assigned to a judge, you can call their clerk and see what the judge’s typical procedure is</a:t>
            </a:r>
          </a:p>
          <a:p>
            <a:r>
              <a:rPr lang="en-US" dirty="0">
                <a:solidFill>
                  <a:schemeClr val="accent1"/>
                </a:solidFill>
              </a:rPr>
              <a:t>MOST</a:t>
            </a:r>
            <a:r>
              <a:rPr lang="en-US" dirty="0"/>
              <a:t> judges will allow us to forego an evidentiary hearing and submit the case on an affidavit </a:t>
            </a:r>
            <a:r>
              <a:rPr lang="en-US" dirty="0">
                <a:solidFill>
                  <a:schemeClr val="accent1"/>
                </a:solidFill>
              </a:rPr>
              <a:t>IF</a:t>
            </a:r>
            <a:r>
              <a:rPr lang="en-US" dirty="0"/>
              <a:t> there are no objections from the other parties.</a:t>
            </a:r>
          </a:p>
          <a:p>
            <a:r>
              <a:rPr lang="en-US" dirty="0"/>
              <a:t>If we must have a hearing, make sure the client knows well in advance, and, if they live out of state or far away, check if they can appear virtually</a:t>
            </a:r>
          </a:p>
        </p:txBody>
      </p:sp>
    </p:spTree>
    <p:extLst>
      <p:ext uri="{BB962C8B-B14F-4D97-AF65-F5344CB8AC3E}">
        <p14:creationId xmlns:p14="http://schemas.microsoft.com/office/powerpoint/2010/main" val="1582715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BA95-BB80-8904-B016-7DA534A2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– Get a Hearing Scheduled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AA7EB-D706-5541-D6B3-A31420347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court </a:t>
            </a:r>
            <a:r>
              <a:rPr lang="en-US" dirty="0">
                <a:solidFill>
                  <a:schemeClr val="accent1"/>
                </a:solidFill>
              </a:rPr>
              <a:t>shall</a:t>
            </a:r>
            <a:r>
              <a:rPr lang="en-US" dirty="0"/>
              <a:t> hold a hearing within </a:t>
            </a:r>
            <a:r>
              <a:rPr lang="en-US" dirty="0">
                <a:solidFill>
                  <a:schemeClr val="accent1"/>
                </a:solidFill>
              </a:rPr>
              <a:t>sixty days </a:t>
            </a:r>
            <a:r>
              <a:rPr lang="en-US" dirty="0"/>
              <a:t>after any written objection is filed</a:t>
            </a:r>
          </a:p>
          <a:p>
            <a:pPr lvl="1"/>
            <a:r>
              <a:rPr lang="en-US" dirty="0"/>
              <a:t>Obviously depends on court schedule &amp; clerk’s processing time</a:t>
            </a:r>
          </a:p>
          <a:p>
            <a:pPr lvl="1"/>
            <a:r>
              <a:rPr lang="en-US" dirty="0"/>
              <a:t>Make sure to keep track to ensure hearings are scheduled timely – some jurisdictions only have one docket a month to handle expungements</a:t>
            </a:r>
          </a:p>
          <a:p>
            <a:endParaRPr lang="en-US" dirty="0"/>
          </a:p>
          <a:p>
            <a:r>
              <a:rPr lang="en-US" dirty="0"/>
              <a:t>The MSHP will file a letter of no contest or objection in EVERY case. The court will always require this before a hearing can go forward </a:t>
            </a:r>
          </a:p>
        </p:txBody>
      </p:sp>
    </p:spTree>
    <p:extLst>
      <p:ext uri="{BB962C8B-B14F-4D97-AF65-F5344CB8AC3E}">
        <p14:creationId xmlns:p14="http://schemas.microsoft.com/office/powerpoint/2010/main" val="613711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36D12-8006-6C3E-FC79-A9906FA5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03F24-BB7D-E91C-0B8A-45CC4162E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D691E9C-D237-2418-356C-59C632739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113471"/>
              </p:ext>
            </p:extLst>
          </p:nvPr>
        </p:nvGraphicFramePr>
        <p:xfrm>
          <a:off x="3204048" y="-1"/>
          <a:ext cx="6321987" cy="8003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00696" imgH="7553189" progId="Acrobat.Document.DC">
                  <p:embed/>
                </p:oleObj>
              </mc:Choice>
              <mc:Fallback>
                <p:oleObj name="Acrobat Document" r:id="rId2" imgW="5800696" imgH="7553189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D691E9C-D237-2418-356C-59C632739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04048" y="-1"/>
                        <a:ext cx="6321987" cy="8003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0611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50F9-0030-8400-7035-8AF635E22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 – Do the damn 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EE52E-4369-1BAF-A7AC-A3630EF78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Client beforehand – you can lead them on all the details – just make sure they’ve got a short but detailed answer as to why their habits and conduct warrant the expungement</a:t>
            </a:r>
          </a:p>
          <a:p>
            <a:r>
              <a:rPr lang="en-US" dirty="0"/>
              <a:t>Keep questioning short and sweet</a:t>
            </a:r>
          </a:p>
          <a:p>
            <a:r>
              <a:rPr lang="en-US" dirty="0"/>
              <a:t>Some judges fill out the orders for you, others make you do it</a:t>
            </a:r>
          </a:p>
          <a:p>
            <a:r>
              <a:rPr lang="en-US" dirty="0"/>
              <a:t>Make sure ALL PARTIES are named on the order</a:t>
            </a:r>
          </a:p>
          <a:p>
            <a:r>
              <a:rPr lang="en-US" dirty="0"/>
              <a:t>Always leave with a SIGNED and SEALED copy to give/mail to the client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805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EC73-00FA-522A-ACAA-2276F7EF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591B43B-0E94-B113-48A8-AD954853E6A9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340373"/>
              </p:ext>
            </p:extLst>
          </p:nvPr>
        </p:nvGraphicFramePr>
        <p:xfrm>
          <a:off x="2705493" y="-214431"/>
          <a:ext cx="5957740" cy="776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810090" imgH="7572375" progId="Acrobat.Document.DC">
                  <p:embed/>
                </p:oleObj>
              </mc:Choice>
              <mc:Fallback>
                <p:oleObj name="Acrobat Document" r:id="rId2" imgW="5810090" imgH="7572375" progId="Acrobat.Document.DC">
                  <p:embed/>
                  <p:pic>
                    <p:nvPicPr>
                      <p:cNvPr id="4" name="Content Placeholder 3">
                        <a:extLst>
                          <a:ext uri="{FF2B5EF4-FFF2-40B4-BE49-F238E27FC236}">
                            <a16:creationId xmlns:a16="http://schemas.microsoft.com/office/drawing/2014/main" id="{8591B43B-0E94-B113-48A8-AD954853E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5493" y="-214431"/>
                        <a:ext cx="5957740" cy="7762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7706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332E-A4FA-F6E4-FACA-08BCAAF2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1415-E9A9-A265-D116-EDFF3844F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CDD68-0155-4AF6-438B-A0A807959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29" y="0"/>
            <a:ext cx="7674240" cy="100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3901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1888</Words>
  <Application>Microsoft Office PowerPoint</Application>
  <PresentationFormat>Widescreen</PresentationFormat>
  <Paragraphs>174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Grandview</vt:lpstr>
      <vt:lpstr>Wingdings</vt:lpstr>
      <vt:lpstr>CosineVTI</vt:lpstr>
      <vt:lpstr>Acrobat Document</vt:lpstr>
      <vt:lpstr>Missouri Expungements</vt:lpstr>
      <vt:lpstr>Question #1 – Was it Criminal?</vt:lpstr>
      <vt:lpstr>Just an arrest? Dismissed Case?</vt:lpstr>
      <vt:lpstr>§ 610.122 – Arrest Records</vt:lpstr>
      <vt:lpstr>§ 610.122 – Arrest Records</vt:lpstr>
      <vt:lpstr>§ 610.140(7) – Arrest Records </vt:lpstr>
      <vt:lpstr>Plea of Guilt? Conviction? DWI?</vt:lpstr>
      <vt:lpstr>§ 610.140 – Finding of Guilt (Non-DWI)</vt:lpstr>
      <vt:lpstr>§ 610.140 – Key Takeaways re Offenses</vt:lpstr>
      <vt:lpstr>§ 610.140 – Finding of Guilt (Non-DWI)</vt:lpstr>
      <vt:lpstr>§ 610.140 – Finding of Guilt (Non-DWI)</vt:lpstr>
      <vt:lpstr>§ 610.140 – Finding of Guilt (Non-DWI)</vt:lpstr>
      <vt:lpstr>§ 610.140 – Finding of Guilt (Non-DWI)</vt:lpstr>
      <vt:lpstr>§ 610.140 – Finding of Guilt (Non-DWI)</vt:lpstr>
      <vt:lpstr>§ 610.130 – Finding of Guilt (DWI)</vt:lpstr>
      <vt:lpstr>§ 610.130 – Finding of Guilt (DWI)</vt:lpstr>
      <vt:lpstr>Something to be aware of…. Marijuana Expungements </vt:lpstr>
      <vt:lpstr>Now.. Onto the Mechanics…</vt:lpstr>
      <vt:lpstr>STEP 1 – Do we have all the necessary information for the petition???</vt:lpstr>
      <vt:lpstr>PowerPoint Presentation</vt:lpstr>
      <vt:lpstr>STEP 2 – Get Petition Drafted</vt:lpstr>
      <vt:lpstr>PowerPoint Presentation</vt:lpstr>
      <vt:lpstr>STEP 4 – Figure out Client Piece</vt:lpstr>
      <vt:lpstr>STEP 5 – Get a Hearing Scheduled</vt:lpstr>
      <vt:lpstr>PowerPoint Presentation</vt:lpstr>
      <vt:lpstr>STEP 6 – Do the damn thing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 Kusmer</dc:creator>
  <cp:lastModifiedBy>Jen Kusmer</cp:lastModifiedBy>
  <cp:revision>2</cp:revision>
  <dcterms:created xsi:type="dcterms:W3CDTF">2025-12-29T22:33:30Z</dcterms:created>
  <dcterms:modified xsi:type="dcterms:W3CDTF">2025-12-31T18:07:09Z</dcterms:modified>
</cp:coreProperties>
</file>